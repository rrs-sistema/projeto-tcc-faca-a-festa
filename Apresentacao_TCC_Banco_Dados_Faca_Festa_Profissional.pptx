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1b58ace1574bdf" /><Relationship Type="http://schemas.openxmlformats.org/officeDocument/2006/relationships/extended-properties" Target="/docProps/app.xml" Id="R9074217d00e447ae" /><Relationship Type="http://schemas.openxmlformats.org/officeDocument/2006/relationships/officeDocument" Target="/ppt/presentation.xml" Id="Rc02577ea2b664f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cdae33bb0a42f4"/>
  </p:sldMasterIdLst>
  <p:notesMasterIdLst>
    <p:notesMasterId xmlns:r="http://schemas.openxmlformats.org/officeDocument/2006/relationships" r:id="R3a070396a7ea4d72"/>
  </p:notesMasterIdLst>
  <p:sldIdLst>
    <p:sldId xmlns:r="http://schemas.openxmlformats.org/officeDocument/2006/relationships" id="256" r:id="R252ae982d6c44ec9"/>
    <p:sldId xmlns:r="http://schemas.openxmlformats.org/officeDocument/2006/relationships" id="257" r:id="R58656427568e4ade"/>
    <p:sldId xmlns:r="http://schemas.openxmlformats.org/officeDocument/2006/relationships" id="258" r:id="Ra3164d192cf34ca2"/>
    <p:sldId xmlns:r="http://schemas.openxmlformats.org/officeDocument/2006/relationships" id="259" r:id="R08871ca46bbd40b5"/>
    <p:sldId xmlns:r="http://schemas.openxmlformats.org/officeDocument/2006/relationships" id="260" r:id="R1515a299399a44c9"/>
    <p:sldId xmlns:r="http://schemas.openxmlformats.org/officeDocument/2006/relationships" id="261" r:id="R22b4b06c18c34d71"/>
    <p:sldId xmlns:r="http://schemas.openxmlformats.org/officeDocument/2006/relationships" id="262" r:id="Ra2475e3a931c4e6a"/>
    <p:sldId xmlns:r="http://schemas.openxmlformats.org/officeDocument/2006/relationships" id="263" r:id="R8407078694e443b0"/>
    <p:sldId xmlns:r="http://schemas.openxmlformats.org/officeDocument/2006/relationships" id="264" r:id="R27169afada484bb1"/>
    <p:sldId xmlns:r="http://schemas.openxmlformats.org/officeDocument/2006/relationships" id="265" r:id="R1ec6ebf4673742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98c0a545845df" /><Relationship Type="http://schemas.openxmlformats.org/officeDocument/2006/relationships/slideMaster" Target="/ppt/slideMasters/slideMaster1.xml" Id="R1acdae33bb0a42f4" /><Relationship Type="http://schemas.openxmlformats.org/officeDocument/2006/relationships/notesMaster" Target="/ppt/notesMasters/notesMaster1.xml" Id="R3a070396a7ea4d72" /><Relationship Type="http://schemas.openxmlformats.org/officeDocument/2006/relationships/presProps" Target="/ppt/presProps.xml" Id="Rd7ae9990b1ae495c" /><Relationship Type="http://schemas.openxmlformats.org/officeDocument/2006/relationships/tableStyles" Target="/ppt/tableStyles.xml" Id="Rb3279ba832b54d1d" /><Relationship Type="http://schemas.openxmlformats.org/officeDocument/2006/relationships/slide" Target="/ppt/slides/slide1.xml" Id="R252ae982d6c44ec9" /><Relationship Type="http://schemas.openxmlformats.org/officeDocument/2006/relationships/slide" Target="/ppt/slides/slide2.xml" Id="R58656427568e4ade" /><Relationship Type="http://schemas.openxmlformats.org/officeDocument/2006/relationships/slide" Target="/ppt/slides/slide3.xml" Id="Ra3164d192cf34ca2" /><Relationship Type="http://schemas.openxmlformats.org/officeDocument/2006/relationships/slide" Target="/ppt/slides/slide4.xml" Id="R08871ca46bbd40b5" /><Relationship Type="http://schemas.openxmlformats.org/officeDocument/2006/relationships/slide" Target="/ppt/slides/slide5.xml" Id="R1515a299399a44c9" /><Relationship Type="http://schemas.openxmlformats.org/officeDocument/2006/relationships/slide" Target="/ppt/slides/slide6.xml" Id="R22b4b06c18c34d71" /><Relationship Type="http://schemas.openxmlformats.org/officeDocument/2006/relationships/slide" Target="/ppt/slides/slide7.xml" Id="Ra2475e3a931c4e6a" /><Relationship Type="http://schemas.openxmlformats.org/officeDocument/2006/relationships/slide" Target="/ppt/slides/slide8.xml" Id="R8407078694e443b0" /><Relationship Type="http://schemas.openxmlformats.org/officeDocument/2006/relationships/slide" Target="/ppt/slides/slide9.xml" Id="R27169afada484bb1" /><Relationship Type="http://schemas.openxmlformats.org/officeDocument/2006/relationships/slide" Target="/ppt/slides/slide10.xml" Id="R1ec6ebf4673742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423ba2d1fa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a1b0fac9b4ba5" /><Relationship Type="http://schemas.openxmlformats.org/officeDocument/2006/relationships/notesMaster" Target="/ppt/notesMasters/notesMaster1.xml" Id="R69b0f1c6ec0f4f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8570dd1f5437f" /><Relationship Type="http://schemas.openxmlformats.org/officeDocument/2006/relationships/notesMaster" Target="/ppt/notesMasters/notesMaster1.xml" Id="R726dfd5d0d814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354cba75a4bfe" /><Relationship Type="http://schemas.openxmlformats.org/officeDocument/2006/relationships/notesMaster" Target="/ppt/notesMasters/notesMaster1.xml" Id="R073a427880204a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3f7847259f4593" /><Relationship Type="http://schemas.openxmlformats.org/officeDocument/2006/relationships/notesMaster" Target="/ppt/notesMasters/notesMaster1.xml" Id="R1fd0d447ae384c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6801f918364cbc" /><Relationship Type="http://schemas.openxmlformats.org/officeDocument/2006/relationships/notesMaster" Target="/ppt/notesMasters/notesMaster1.xml" Id="Ra4d942c9ff19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8b131e47384d29" /><Relationship Type="http://schemas.openxmlformats.org/officeDocument/2006/relationships/notesMaster" Target="/ppt/notesMasters/notesMaster1.xml" Id="R3d8f2724ac3848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7d5be405f34751" /><Relationship Type="http://schemas.openxmlformats.org/officeDocument/2006/relationships/notesMaster" Target="/ppt/notesMasters/notesMaster1.xml" Id="Rf863b8071ac34b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4301d17ac42df" /><Relationship Type="http://schemas.openxmlformats.org/officeDocument/2006/relationships/notesMaster" Target="/ppt/notesMasters/notesMaster1.xml" Id="Rc8112e84c54842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b90b2c69304238" /><Relationship Type="http://schemas.openxmlformats.org/officeDocument/2006/relationships/notesMaster" Target="/ppt/notesMasters/notesMaster1.xml" Id="R77f64fe97efc44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0caf0f438f4a68" /><Relationship Type="http://schemas.openxmlformats.org/officeDocument/2006/relationships/notesMaster" Target="/ppt/notesMasters/notesMaster1.xml" Id="Rcf8cf490393444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relacionando tecnologia e negócio: o banco de dados sustenta os fluxos do organizador, do convidado e do fornecedor. O objetivo desta apresentação é mostrar o modelo que existe hoje e como ele foi formalizado para evolução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assets/logo/logo-faca-festa.png</a:t>
            </a:r>
          </a:p>
          <a:p xmlns:a="http://schemas.openxmlformats.org/drawingml/2006/main">
            <a:r>
              <a:t>- assets/images/fornecedor_default.jpg</a:t>
            </a:r>
          </a:p>
          <a:p xmlns:a="http://schemas.openxmlformats.org/drawingml/2006/main">
            <a:r>
              <a:t>- document/MAPEAMENTO_FIREBASE_APRESENTACAO.md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mensagem é maturidade: o projeto cresceu e o modelo antigo ficou menor que a implementação. Os números mostram a diferença entre código e persistência e justificam a atualização do 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lib/data/models/**</a:t>
            </a:r>
          </a:p>
          <a:p xmlns:a="http://schemas.openxmlformats.org/drawingml/2006/main">
            <a:r>
              <a:t>- lib/controllers/**</a:t>
            </a:r>
          </a:p>
          <a:p xmlns:a="http://schemas.openxmlformats.org/drawingml/2006/main">
            <a:r>
              <a:t>- functions/src/**</a:t>
            </a:r>
          </a:p>
          <a:p xmlns:a="http://schemas.openxmlformats.org/drawingml/2006/main">
            <a:r>
              <a:t>- document/modelo_sql_vycanis.sql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trabalho não foi apenas copiar classes. Foram verificados controllers, repositories, telas e funções de backend. Em seguida, subcoleções e listas foram convertidas em relações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lib/data/models/**</a:t>
            </a:r>
          </a:p>
          <a:p xmlns:a="http://schemas.openxmlformats.org/drawingml/2006/main">
            <a:r>
              <a:t>- lib/controllers/**</a:t>
            </a:r>
          </a:p>
          <a:p xmlns:a="http://schemas.openxmlformats.org/drawingml/2006/main">
            <a:r>
              <a:t>- lib/data/repositories/**</a:t>
            </a:r>
          </a:p>
          <a:p xmlns:a="http://schemas.openxmlformats.org/drawingml/2006/main">
            <a:r>
              <a:t>- lib/data/datasources/**</a:t>
            </a:r>
          </a:p>
          <a:p xmlns:a="http://schemas.openxmlformats.org/drawingml/2006/main">
            <a:r>
              <a:t>- functions/src/**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relacionamento central: um usuário organiza eventos; o tipo classifica; convidados, tarefas, cardápios e orçamentos dependem do evento. No Firestore essas são FKs lógicas; no modelo SQL passaram a ser relacionamentos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lib/data/models/evento/evento_model.dart</a:t>
            </a:r>
          </a:p>
          <a:p xmlns:a="http://schemas.openxmlformats.org/drawingml/2006/main">
            <a:r>
              <a:t>- lib/data/models/usuario/usuario_model.dart</a:t>
            </a:r>
          </a:p>
          <a:p xmlns:a="http://schemas.openxmlformats.org/drawingml/2006/main">
            <a:r>
              <a:t>- lib/data/models/convidado/convidado_model.dart</a:t>
            </a:r>
          </a:p>
          <a:p xmlns:a="http://schemas.openxmlformats.org/drawingml/2006/main">
            <a:r>
              <a:t>- lib/data/models/tarefa/tarefa_model.dart</a:t>
            </a:r>
          </a:p>
          <a:p xmlns:a="http://schemas.openxmlformats.org/drawingml/2006/main">
            <a:r>
              <a:t>- document/modelo_sql_vycanis.sql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leia todos os campos. Use um exemplo: evento.id_usuario liga o evento ao organizador; convidado.id_evento liga cada pessoa à festa. A diferença entre PK e FK deve ficar clara para a banca.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lib/data/models/usuario/usuario_model.dart</a:t>
            </a:r>
          </a:p>
          <a:p xmlns:a="http://schemas.openxmlformats.org/drawingml/2006/main">
            <a:r>
              <a:t>- lib/data/models/evento/evento_model.dart</a:t>
            </a:r>
          </a:p>
          <a:p xmlns:a="http://schemas.openxmlformats.org/drawingml/2006/main">
            <a:r>
              <a:t>- lib/data/models/convidado/convidado_model.dart</a:t>
            </a:r>
          </a:p>
          <a:p xmlns:a="http://schemas.openxmlformats.org/drawingml/2006/main">
            <a:r>
              <a:t>- lib/data/models/cardapio/**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núcleo de mercado do aplicativo. Um fornecedor pode oferecer vários serviços e um serviço pode ser oferecido por vários fornecedores. A tabela associativa também guarda preço e métricas.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lib/data/models/fornecedor/fornecedor_model.dart</a:t>
            </a:r>
          </a:p>
          <a:p xmlns:a="http://schemas.openxmlformats.org/drawingml/2006/main">
            <a:r>
              <a:t>- lib/data/models/servico_produto/**</a:t>
            </a:r>
          </a:p>
          <a:p xmlns:a="http://schemas.openxmlformats.org/drawingml/2006/main">
            <a:r>
              <a:t>- lib/controllers/fornecedor/**</a:t>
            </a:r>
          </a:p>
          <a:p xmlns:a="http://schemas.openxmlformats.org/drawingml/2006/main">
            <a:r>
              <a:t>- lib/controllers/servico/**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o fluxo como uma história: o evento abre uma cotação, fornecedores respondem, serviços recebem valores, a proposta escolhida gera orçamento e os gastos passam a ser controlados.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lib/controllers/contacao/**</a:t>
            </a:r>
          </a:p>
          <a:p xmlns:a="http://schemas.openxmlformats.org/drawingml/2006/main">
            <a:r>
              <a:t>- lib/controllers/orcamento_controller.dart</a:t>
            </a:r>
          </a:p>
          <a:p xmlns:a="http://schemas.openxmlformats.org/drawingml/2006/main">
            <a:r>
              <a:t>- lib/controllers/orcamento_gasto_controller.dart</a:t>
            </a:r>
          </a:p>
          <a:p xmlns:a="http://schemas.openxmlformats.org/drawingml/2006/main">
            <a:r>
              <a:t>- lib/presentation/pages/fornecedor/chat/**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separação por domínios reduz acoplamento. A calculadora pode evoluir, a inspiração pode receber novos conteúdos e os algoritmos de recomendação podem mudar sem alterar as tabelas centrais.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lib/data/repositories/calculadora_festa_repository.dart</a:t>
            </a:r>
          </a:p>
          <a:p xmlns:a="http://schemas.openxmlformats.org/drawingml/2006/main">
            <a:r>
              <a:t>- functions/src/services/calculadora/**</a:t>
            </a:r>
          </a:p>
          <a:p xmlns:a="http://schemas.openxmlformats.org/drawingml/2006/main">
            <a:r>
              <a:t>- lib/controllers/inspiracao/**</a:t>
            </a:r>
          </a:p>
          <a:p xmlns:a="http://schemas.openxmlformats.org/drawingml/2006/main">
            <a:r>
              <a:t>- functions/src/services/fornecedores/**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captura representa o modelo inicial. A atualização não é apenas visual: o DDL atual inclui 54 tabelas, converte subcoleções em relações e valida todas as referências. O arquivo pode ser importado pela Engenharia Reversa do Vycanis.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do Vycanis fornecida pelo usuário</a:t>
            </a:r>
          </a:p>
          <a:p xmlns:a="http://schemas.openxmlformats.org/drawingml/2006/main">
            <a:r>
              <a:t>- document/modelo_sql_vycanis.sql</a:t>
            </a:r>
          </a:p>
          <a:p xmlns:a="http://schemas.openxmlformats.org/drawingml/2006/main">
            <a:r>
              <a:t>- document/GUIA_MODELO_SQL_VYCANIS.md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conectando o trabalho técnico à visão de mercado. Um produto que pretende crescer precisa de um banco explicável, governado e compartilhável. O resultado do TCC é também uma base para manutenção e evolução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document/MAPEAMENTO_FIREBASE_APRESENTACAO.md</a:t>
            </a:r>
          </a:p>
          <a:p xmlns:a="http://schemas.openxmlformats.org/drawingml/2006/main">
            <a:r>
              <a:t>- document/modelo_sql_vycanis.sql</a:t>
            </a:r>
          </a:p>
          <a:p xmlns:a="http://schemas.openxmlformats.org/drawingml/2006/main">
            <a:r>
              <a:t>- document/GUIA_MODELO_SQL_VYCANIS.md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67f33e4704d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44ca718ce4c7a" /><Relationship Type="http://schemas.openxmlformats.org/officeDocument/2006/relationships/slideLayout" Target="/ppt/slideLayouts/slideLayout1.xml" Id="R4065b6fa08c349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5b6fa08c349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47fd1b04e4254" /><Relationship Type="http://schemas.openxmlformats.org/officeDocument/2006/relationships/image" Target="/ppt/media/image.jpeg" Id="R1a7e83fca6924acd" /><Relationship Type="http://schemas.openxmlformats.org/officeDocument/2006/relationships/image" Target="/ppt/media/image.png" Id="R7704639042704e17" /><Relationship Type="http://schemas.openxmlformats.org/officeDocument/2006/relationships/notesSlide" Target="/ppt/notesSlides/notesSlide1.xml" Id="Rfb818ee5964e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d49677cdd4a9d" /><Relationship Type="http://schemas.openxmlformats.org/officeDocument/2006/relationships/notesSlide" Target="/ppt/notesSlides/notesSlide2.xml" Id="R4e0f8f26a947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2877462d0405b" /><Relationship Type="http://schemas.openxmlformats.org/officeDocument/2006/relationships/notesSlide" Target="/ppt/notesSlides/notesSlide3.xml" Id="R9d3878984c87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1d4e3388e48f9" /><Relationship Type="http://schemas.openxmlformats.org/officeDocument/2006/relationships/notesSlide" Target="/ppt/notesSlides/notesSlide4.xml" Id="R909f1ae63cf049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e0a17d2c4053" /><Relationship Type="http://schemas.openxmlformats.org/officeDocument/2006/relationships/notesSlide" Target="/ppt/notesSlides/notesSlide5.xml" Id="R4278ad647cae4e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18ad73bfb41b4" /><Relationship Type="http://schemas.openxmlformats.org/officeDocument/2006/relationships/notesSlide" Target="/ppt/notesSlides/notesSlide6.xml" Id="R49d086e23ef3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f12104f9e42ab" /><Relationship Type="http://schemas.openxmlformats.org/officeDocument/2006/relationships/notesSlide" Target="/ppt/notesSlides/notesSlide7.xml" Id="Rf3a8611a780e4f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ffce45a384415" /><Relationship Type="http://schemas.openxmlformats.org/officeDocument/2006/relationships/notesSlide" Target="/ppt/notesSlides/notesSlide8.xml" Id="Ra433066b9b7040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97f2117cc482f" /><Relationship Type="http://schemas.openxmlformats.org/officeDocument/2006/relationships/image" Target="/ppt/media/image2.png" Id="R589f5e4eb1c5439c" /><Relationship Type="http://schemas.openxmlformats.org/officeDocument/2006/relationships/notesSlide" Target="/ppt/notesSlides/notesSlide9.xml" Id="R0489f68d4be541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101e5e1a64458" /><Relationship Type="http://schemas.openxmlformats.org/officeDocument/2006/relationships/image" Target="/ppt/media/image3.png" Id="R3445a091c53c447f" /><Relationship Type="http://schemas.openxmlformats.org/officeDocument/2006/relationships/notesSlide" Target="/ppt/notesSlides/notesSlide10.xml" Id="R31a792f9c459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e83fca6924acd"/>
          <a:srcRect xmlns:a="http://schemas.openxmlformats.org/drawingml/2006/main" l="33447" t="0" r="33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F9371-1229-4855-A727-2DC0E9DF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4639042704e17"/>
          <a:stretch xmlns:a="http://schemas.openxmlformats.org/drawingml/2006/main"/>
        </p:blipFill>
        <p:spPr>
          <a:xfrm xmlns:a="http://schemas.openxmlformats.org/drawingml/2006/main">
            <a:off x="495300" y="4000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F62DD-3662-49BA-8BE3-B9D5BFF9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BANCO DE DADOS</a:t>
            </a:r>
          </a:p>
          <a:p xmlns:a="http://schemas.openxmlformats.org/drawingml/2006/main">
            <a:pPr algn="l"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DO FAÇA A FESTA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DFAB3-5F81-4AF9-9200-E783966F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2DBEA"/>
                </a:solidFill>
              </a:defRPr>
            </a:pPr>
            <a:r>
              <a:rPr sz="1800" b="0">
                <a:solidFill>
                  <a:srgbClr val="D2DBEA"/>
                </a:solidFill>
              </a:rPr>
              <a:t>Mapeamento atual, chaves e modelo relacional para um produto preparado para o mercado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AE556-5DBA-4A3F-827C-BAFF8D2E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84A"/>
          </a:solidFill>
          <a:ln xmlns:a="http://schemas.openxmlformats.org/drawingml/2006/main" w="0">
            <a:solidFill>
              <a:srgbClr val="F8C8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B4FE-8012-43AA-921C-3D3E6DF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Trabalho de Conclusão de Curso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77AA0-06E2-4647-8D76-CE1B0F1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8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A"/>
                </a:solidFill>
              </a:defRPr>
            </a:pPr>
            <a:r>
              <a:rPr sz="1200" b="0">
                <a:solidFill>
                  <a:srgbClr val="AFC0DA"/>
                </a:solidFill>
              </a:rPr>
              <a:t>Sistemas · 2026</a:t>
            </a:r>
          </a:p>
        </p:txBody>
      </p:sp>
    </p:spTree>
    <p:extLst>
      <p:ext uri="{BB962C8B-B14F-4D97-AF65-F5344CB8AC3E}">
        <p14:creationId xmlns:p14="http://schemas.microsoft.com/office/powerpoint/2010/main" val="124468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216E1-7F18-45C4-A473-EF0F17C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1B2A"/>
                </a:solidFill>
              </a:defRPr>
            </a:pPr>
            <a:r>
              <a:rPr sz="2925" b="1">
                <a:solidFill>
                  <a:srgbClr val="131B2A"/>
                </a:solidFill>
              </a:rPr>
              <a:t>O banco já reflete um ecossistema de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97DBE-8AFF-430A-9291-47E88FE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O levantamento separou modelos de código das estruturas realmente persistidas.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DF5C7-2F92-4E42-A1AF-B47A8C74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CD3E1-2B66-4C0B-9341-2A4B95CC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E01EB-CAED-484E-A396-780E61E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82ABC-F0DD-4BD1-B981-BAFCA0F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769C2"/>
                </a:solidFill>
              </a:defRPr>
            </a:pPr>
            <a:r>
              <a:rPr sz="5700" b="1">
                <a:solidFill>
                  <a:srgbClr val="1769C2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17308-A29F-4A35-9625-9BFB66A8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B2A"/>
                </a:solidFill>
              </a:defRPr>
            </a:pPr>
            <a:r>
              <a:rPr sz="1800" b="1">
                <a:solidFill>
                  <a:srgbClr val="131B2A"/>
                </a:solidFill>
              </a:rPr>
              <a:t>coleções raiz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71500" y="39814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E0CD9-30D9-4904-BF94-5FA780D1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E83D91"/>
                </a:solidFill>
              </a:defRPr>
            </a:pPr>
            <a:r>
              <a:rPr sz="5700" b="1">
                <a:solidFill>
                  <a:srgbClr val="E83D91"/>
                </a:solidFill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7DCC-21D7-4EC2-BF21-5CD1E775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B2A"/>
                </a:solidFill>
              </a:defRPr>
            </a:pPr>
            <a:r>
              <a:rPr sz="1800" b="1">
                <a:solidFill>
                  <a:srgbClr val="131B2A"/>
                </a:solidFill>
              </a:rPr>
              <a:t>caminhos aninhados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429125" y="39814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8CB55-DD23-4B67-9A33-862DA0B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8C84A"/>
                </a:solidFill>
              </a:defRPr>
            </a:pPr>
            <a:r>
              <a:rPr sz="5700" b="1">
                <a:solidFill>
                  <a:srgbClr val="F8C84A"/>
                </a:solidFill>
              </a:rPr>
              <a:t>54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01853-CD20-4650-A7A8-95640C0C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B2A"/>
                </a:solidFill>
              </a:defRPr>
            </a:pPr>
            <a:r>
              <a:rPr sz="1800" b="1">
                <a:solidFill>
                  <a:srgbClr val="131B2A"/>
                </a:solidFill>
              </a:rPr>
              <a:t>tabelas no modelo SQL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286750" y="39814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7CE1A-4E77-470A-8712-DE4A212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B2A"/>
                </a:solidFill>
              </a:defRPr>
            </a:pPr>
            <a:r>
              <a:rPr sz="1875" b="1">
                <a:solidFill>
                  <a:srgbClr val="131B2A"/>
                </a:solidFill>
              </a:rPr>
              <a:t>74 arquivos de modelo foram analisados — mas classe não significa tabela.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32E83-45DF-4877-BC0D-C7D13FB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DTOs, projeções administrativas, cálculos locais e respostas de IA só entraram no modelo quando representam informação persistida ou uma entidade de domínio relevante.</a:t>
            </a:r>
          </a:p>
        </p:txBody>
      </p:sp>
    </p:spTree>
    <p:extLst>
      <p:ext uri="{BB962C8B-B14F-4D97-AF65-F5344CB8AC3E}">
        <p14:creationId xmlns:p14="http://schemas.microsoft.com/office/powerpoint/2010/main" val="1800457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34F40-CAA4-45A6-B4D6-80FD04F8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novo modelo nasceu do uso real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E89D4-12C3-4D5E-B375-A41D138C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Três evidências foram cruzadas para evitar tabelas fictícias ou campos desatualizados.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37E8E-5B27-4B6D-BECE-A070F0F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93AEA-4CE5-4141-960B-C5DB570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4D8"/>
                </a:solidFill>
              </a:defRPr>
            </a:pPr>
            <a:r>
              <a:rPr sz="825" b="0">
                <a:solidFill>
                  <a:srgbClr val="B9C4D8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AE1C1-DE62-4EFB-ABAA-29B708E7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4D8"/>
                </a:solidFill>
              </a:defRPr>
            </a:pPr>
            <a:r>
              <a:rPr sz="825" b="0">
                <a:solidFill>
                  <a:srgbClr val="B9C4D8"/>
                </a:solidFill>
              </a:rPr>
              <a:t>03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619250" y="3429000"/>
            <a:ext cx="881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2516B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A041-423A-4412-A2C2-D61ACE81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70B34-1339-489B-B088-A3C3AA2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62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1C196-BA01-4461-842F-3AF66319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Modelos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C9FD8-4FA2-4AF5-80BB-4A01FD23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53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Campos e tipos definidos em Dart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5C24-BC6F-4BB8-9276-C41E9864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FE912-A11A-46F1-B198-B55FA568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62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F642-7A43-4193-B395-6CCE23D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Persistência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D3EC4-AF66-4379-8713-721BFDFD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053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Leituras, gravações e consultas no Firestore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7C0D4-B9CB-4887-867B-8EA953F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84A"/>
          </a:solidFill>
          <a:ln xmlns:a="http://schemas.openxmlformats.org/drawingml/2006/main" w="0">
            <a:solidFill>
              <a:srgbClr val="F8C8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30246-0D85-4496-A22E-ABCCCD77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62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1B2A"/>
                </a:solidFill>
              </a:defRPr>
            </a:pPr>
            <a:r>
              <a:rPr sz="1200" b="1">
                <a:solidFill>
                  <a:srgbClr val="131B2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34FAA-92AE-4335-A4AD-261B6D7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Contrato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01236-AC8E-428D-96FE-84E65149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PKs, FKs e normalização para o Vycanis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A00BA-B197-4AD4-98FE-51A24F4F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9CFF"/>
                </a:solidFill>
              </a:defRPr>
            </a:pPr>
            <a:r>
              <a:rPr sz="1650" b="1">
                <a:solidFill>
                  <a:srgbClr val="B89CFF"/>
                </a:solidFill>
              </a:rPr>
              <a:t>Resultado: um modelo rastreável ao código e explicável para a banca.</a:t>
            </a:r>
          </a:p>
        </p:txBody>
      </p:sp>
    </p:spTree>
    <p:extLst>
      <p:ext uri="{BB962C8B-B14F-4D97-AF65-F5344CB8AC3E}">
        <p14:creationId xmlns:p14="http://schemas.microsoft.com/office/powerpoint/2010/main" val="350730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DCC080-AB27-4764-8D9D-B56A48E0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1B2A"/>
                </a:solidFill>
              </a:defRPr>
            </a:pPr>
            <a:r>
              <a:rPr sz="2925" b="1">
                <a:solidFill>
                  <a:srgbClr val="131B2A"/>
                </a:solidFill>
              </a:rPr>
              <a:t>O evento conecta os principais fluxos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6D863-7A3B-45D5-99A0-D697D5DB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 entidade central concentra planejamento, convidados, consumo e decisões financeiras.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2DCB-F964-4C1F-B943-41FF1A7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D8FF0-D0FF-4DC4-AE17-AB0AF722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87011-DEE7-42E7-920F-CED717A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04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3476625" y="18859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4286250" y="188595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4286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3476625" y="51244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4286250" y="3857625"/>
            <a:ext cx="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286250" y="3857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7239000" y="3000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8096250" y="169545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8096250" y="1695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7239000" y="3286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8096250" y="293370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8096250" y="2933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7239000" y="36671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8096250" y="36671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8096250" y="4362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7239000" y="3952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8096250" y="3952875"/>
            <a:ext cx="0" cy="1647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8096250" y="5600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C6D2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00256-AA58-45BA-B5BE-E09C13E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24AA7-5BF4-4FD7-B962-3A3A43F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194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C0293-E2F4-4370-8766-80373B24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C84A"/>
                </a:solidFill>
              </a:defRPr>
            </a:pPr>
            <a:r>
              <a:rPr sz="1200" b="0">
                <a:solidFill>
                  <a:srgbClr val="F8C84A"/>
                </a:solidFill>
              </a:rPr>
              <a:t>PK · id_evento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03FE5-8118-42EB-96E2-A106B8B3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763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BDAC0-384E-49FA-A3EA-C34C6912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usuario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B8D2E-F1A8-4A94-B2FD-28263579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id_usuario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7EC743-750C-49A4-951E-5408C14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9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57B3F-93AF-4C29-B8C0-58E0BDFC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tipo_evento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C28B56-98E2-4754-A421-2860040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00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id_tipo_evento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9E90A-2E55-4F8D-AD1C-D68E2A47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858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3D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27F34-A85B-43F8-8312-C75E18F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convidado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D4DD20-47CC-41A9-A293-F71070D2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id_evento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20EC63-48BF-4AF3-925E-0914768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8C8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2753B-DF41-4394-AE33-DC68BB80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tarefa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B0754B-632B-4E6A-AD8A-15FD1FB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id_evento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972132-EE74-4184-8FBE-0A82F0FD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9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E4E45B-2E70-4B75-BC41-50008CDD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cardapio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BA28B4-0084-41CE-83BF-19856BA1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id_evento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124834-B31F-4B80-B1C2-84EC195B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3D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1B135D-B109-4B16-BFFD-2C64B4D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B2A"/>
                </a:solidFill>
              </a:defRPr>
            </a:pPr>
            <a:r>
              <a:rPr sz="1650" b="1">
                <a:solidFill>
                  <a:srgbClr val="131B2A"/>
                </a:solidFill>
              </a:rPr>
              <a:t>orcamento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F6932B-945B-4A93-A893-C87521C2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76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id_evento</a:t>
            </a:r>
          </a:p>
        </p:txBody>
      </p:sp>
    </p:spTree>
    <p:extLst>
      <p:ext uri="{BB962C8B-B14F-4D97-AF65-F5344CB8AC3E}">
        <p14:creationId xmlns:p14="http://schemas.microsoft.com/office/powerpoint/2010/main" val="776881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3E99B-90DB-414E-841D-07CFDC9D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1B2A"/>
                </a:solidFill>
              </a:defRPr>
            </a:pPr>
            <a:r>
              <a:rPr sz="2925" b="1">
                <a:solidFill>
                  <a:srgbClr val="131B2A"/>
                </a:solidFill>
              </a:rPr>
              <a:t>As tabelas centrais preservam identidade e 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1BFC9-7ABE-4A12-85B3-B45AB76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Campos essenciais foram priorizados; detalhes completos permanecem no dicionário de dados.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5887E-73FD-4792-B30B-6D4ED6A6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ABFE6-6C6F-4E1A-8F80-AC7D89A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10203-6050-46B2-8C3E-D507DB1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952625"/>
          <a:ext xmlns:a="http://schemas.openxmlformats.org/drawingml/2006/main" cx="112014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190750"/>
                <a:gridCol w="3238500"/>
                <a:gridCol w="3771900"/>
              </a:tblGrid>
              <a:tr h="635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Entidade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Chave primária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Chaves estrangeiras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Campos essenciais</a:t>
                      </a:r>
                    </a:p>
                  </a:txBody>
                  <a:tcPr marL="91440" marR="91440" marT="45720" marB="45720">
                    <a:solidFill>
                      <a:srgbClr val="0B122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nome · email · tipo · ativo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id_usuario · id_tipo_evento · id_cidade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nome · data · status · totais · endereço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convidado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id_convidado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id_evento · id_grupo · id_mesa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nome · contato · status · tipo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tarefa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id_tarefa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id_evento · id_responsavel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título · data prevista · status</a:t>
                      </a:r>
                    </a:p>
                  </a:txBody>
                  <a:tcPr marL="91440" marR="91440" marT="45720" marB="45720"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cardapio_item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id_cardapio · id_evento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A"/>
                          </a:solidFill>
                        </a:rPr>
                        <a:t>tipo · público · quantidades · confirmação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176D2-AF0E-4E10-90E6-CF71455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D31C-B1C5-4599-B115-22666301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No Firestore, a relação é uma convenção. No SQL, a FK torna o vínculo documentado e verificável.</a:t>
            </a:r>
          </a:p>
        </p:txBody>
      </p:sp>
    </p:spTree>
    <p:extLst>
      <p:ext uri="{BB962C8B-B14F-4D97-AF65-F5344CB8AC3E}">
        <p14:creationId xmlns:p14="http://schemas.microsoft.com/office/powerpoint/2010/main" val="438155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DDFA4D-FF23-4398-9EDF-BE70A46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O marketplace exige relações muitos-para-muitos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DEF8D-A3CF-4EB2-BD0F-128A0775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Fornecedor, catálogo e território foram separados para permitir busca, preço e expansão regional.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17E04-90DC-4807-90A1-16158AA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5E430-2111-44C3-B4EF-90202012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9C4D8"/>
                </a:solidFill>
              </a:defRPr>
            </a:pPr>
            <a:r>
              <a:rPr sz="825" b="0">
                <a:solidFill>
                  <a:srgbClr val="B9C4D8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FBB44-DCA9-4195-98CB-A61BD08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4D8"/>
                </a:solidFill>
              </a:defRPr>
            </a:pPr>
            <a:r>
              <a:rPr sz="825" b="0">
                <a:solidFill>
                  <a:srgbClr val="B9C4D8"/>
                </a:solidFill>
              </a:rPr>
              <a:t>06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3048000" y="2000250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A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3048000" y="338137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A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3048000" y="3381375"/>
            <a:ext cx="228600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A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7429500" y="2000250"/>
            <a:ext cx="20002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27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D9B86-FCE9-44D8-902B-90F5C3B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A399F-B70E-4AAB-BC5F-8553FEA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fornecedor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1F9F2-90F5-47EC-B58A-1DB56AEB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9F8"/>
                </a:solidFill>
              </a:defRPr>
            </a:pPr>
            <a:r>
              <a:rPr sz="1125" b="0">
                <a:solidFill>
                  <a:srgbClr val="DCE9F8"/>
                </a:solidFill>
              </a:rPr>
              <a:t>PK · id_fornecedor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D5B3B-5D03-4D22-AD22-55F5AE6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239"/>
          </a:solidFill>
          <a:ln xmlns:a="http://schemas.openxmlformats.org/drawingml/2006/main" w="19050">
            <a:solidFill>
              <a:srgbClr val="E83D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E9347-C805-4547-8E18-4234041D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fornecedor_categoria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4EB39-222F-41D0-88FB-1177B681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0E1"/>
                </a:solidFill>
              </a:defRPr>
            </a:pPr>
            <a:r>
              <a:rPr sz="1050" b="0">
                <a:solidFill>
                  <a:srgbClr val="C7D0E1"/>
                </a:solidFill>
              </a:rPr>
              <a:t>fornecedor + categoria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88C38-69E4-442F-9E6C-C7AE2731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239"/>
          </a:solidFill>
          <a:ln xmlns:a="http://schemas.openxmlformats.org/drawingml/2006/main" w="19050">
            <a:solidFill>
              <a:srgbClr val="F8C8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D3999-48AC-4E5C-AD06-A2713141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05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fornecedor_servico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CC5E0-7086-4507-9C99-433AD230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0E1"/>
                </a:solidFill>
              </a:defRPr>
            </a:pPr>
            <a:r>
              <a:rPr sz="1050" b="0">
                <a:solidFill>
                  <a:srgbClr val="C7D0E1"/>
                </a:solidFill>
              </a:rPr>
              <a:t>preço · promoção · 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0FE13-F8E1-43C7-A601-CF368ED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239"/>
          </a:solidFill>
          <a:ln xmlns:a="http://schemas.openxmlformats.org/drawingml/2006/main" w="19050">
            <a:solidFill>
              <a:srgbClr val="B89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CDE34-B30D-4916-9A88-7945478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territorio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2D860-B51E-4B7D-B215-67A281BB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95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0E1"/>
                </a:solidFill>
              </a:defRPr>
            </a:pPr>
            <a:r>
              <a:rPr sz="1050" b="0">
                <a:solidFill>
                  <a:srgbClr val="C7D0E1"/>
                </a:solidFill>
              </a:rPr>
              <a:t>região · raio · coordenadas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AFFB7-0356-4F94-BEE5-7FC2838C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2239"/>
          </a:solidFill>
          <a:ln xmlns:a="http://schemas.openxmlformats.org/drawingml/2006/main" w="19050">
            <a:solidFill>
              <a:srgbClr val="1769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790FD-7D8A-4716-9361-C3D688C5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servico_produto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9E369-399E-40AB-B089-09FABE1C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0E1"/>
                </a:solidFill>
              </a:defRPr>
            </a:pPr>
            <a:r>
              <a:rPr sz="1050" b="0">
                <a:solidFill>
                  <a:srgbClr val="C7D0E1"/>
                </a:solidFill>
              </a:rPr>
              <a:t>nome · medida · descrição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76434-586E-4101-B8C5-ADEFA759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tabela associativa fornecedor_servico resolve a relação N:N e centraliza preço, disponibilidade e reputação do serviço.</a:t>
            </a:r>
          </a:p>
        </p:txBody>
      </p:sp>
    </p:spTree>
    <p:extLst>
      <p:ext uri="{BB962C8B-B14F-4D97-AF65-F5344CB8AC3E}">
        <p14:creationId xmlns:p14="http://schemas.microsoft.com/office/powerpoint/2010/main" val="1492703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46D67-7A9A-438D-A402-933A75D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1B2A"/>
                </a:solidFill>
              </a:defRPr>
            </a:pPr>
            <a:r>
              <a:rPr sz="2925" b="1">
                <a:solidFill>
                  <a:srgbClr val="131B2A"/>
                </a:solidFill>
              </a:rPr>
              <a:t>A jornada comercial permanece rastreável ponta a ponta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9431B-4044-401A-BB1F-D4204BF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Da solicitação ao gasto realizado, cada etapa possui identidade e vínculo com o evento.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6F30-C639-45DA-8722-782E54F7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785BD-678D-45F5-9E34-9C061EB4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BAA37-3BB2-4282-9F88-ADEB2B4B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07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381125" y="3381375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FC6D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7F7C4-1962-4762-B6BC-53507DB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2B0CF-6059-45FC-A015-E1C9A1B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C68CC-B421-4B49-BC3E-92C9C1AE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cotacao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E243F-9D89-48FD-A3F8-10819CB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evento + solicitante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7FB71-7DCC-41F6-8480-79B7B52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84176-80E9-491E-BA02-7D694506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9A2B5-84BC-4A08-8515-B06DFCD8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cotacao_fornecedor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C0F0A-6291-4BD7-9694-A7BD1307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prazo + resposta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5BFFB-BB61-404D-BD5C-252932D0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C84A"/>
          </a:solidFill>
          <a:ln xmlns:a="http://schemas.openxmlformats.org/drawingml/2006/main" w="0">
            <a:solidFill>
              <a:srgbClr val="F8C8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E25F5-8080-462D-BDC1-D50F806B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CF7FE-6AF9-4109-8959-402B95D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481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cotacao_servico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CB3E6-F0F8-47A3-80EE-CF9DE8B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9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quantidade + valores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C9E65-5068-438E-AF3D-920A74BA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9CFF"/>
          </a:solidFill>
          <a:ln xmlns:a="http://schemas.openxmlformats.org/drawingml/2006/main" w="0">
            <a:solidFill>
              <a:srgbClr val="B89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6DEF2-369C-4B94-B011-41A0C33C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5913D-72C4-42D0-B4DB-AD309781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481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orcamento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F3144-171B-46EE-A854-A6DC4B38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9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fornecedor +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701EA-7FAF-4602-A339-16009884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670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83DCF-BD35-44BB-87CE-908CC774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99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D974D-4184-445C-B773-EE3A4644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481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orcamento_gasto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E2B4D-5492-49DD-9C1D-22AF459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96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custo + pago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B8D1D-1BCF-4D0F-BE0B-1100DE64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C2"/>
                </a:solidFill>
              </a:defRPr>
            </a:pPr>
            <a:r>
              <a:rPr sz="1500" b="1">
                <a:solidFill>
                  <a:srgbClr val="1769C2"/>
                </a:solidFill>
              </a:rPr>
              <a:t>Mensagens e serviços ficam associados ao fornecedor dentro da cotação; gastos detalham o orçamento aprovado.</a:t>
            </a:r>
          </a:p>
        </p:txBody>
      </p:sp>
    </p:spTree>
    <p:extLst>
      <p:ext uri="{BB962C8B-B14F-4D97-AF65-F5344CB8AC3E}">
        <p14:creationId xmlns:p14="http://schemas.microsoft.com/office/powerpoint/2010/main" val="2042380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5EEEA-DE4E-43ED-8AB2-1B98EC6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1B2A"/>
                </a:solidFill>
              </a:defRPr>
            </a:pPr>
            <a:r>
              <a:rPr sz="2925" b="1">
                <a:solidFill>
                  <a:srgbClr val="131B2A"/>
                </a:solidFill>
              </a:rPr>
              <a:t>Recursos avançados já têm estrutura para escalar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10C30-F644-40A7-8DD9-D2EEE30C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Dados de cálculo, inspiração e inteligência permanecem separados do núcleo transacional.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BADE1-CE5D-444B-BC4F-E27217D4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1E680-2486-4814-8415-A0CF3E08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FAÇA A FESTA · TCC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F96ED-5AFC-486C-A9A5-47FE34F8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64092-A5B4-4A3D-A39E-4C97995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3E591-34EA-4F28-BDF5-E7A2250F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C2"/>
                </a:solidFill>
              </a:defRPr>
            </a:pPr>
            <a:r>
              <a:rPr sz="1350" b="1">
                <a:solidFill>
                  <a:srgbClr val="1769C2"/>
                </a:solidFill>
              </a:rPr>
              <a:t>CALCULADORA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3AF0-FCB3-4AA9-82B8-36DFA14D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B2A"/>
                </a:solidFill>
              </a:defRPr>
            </a:pPr>
            <a:r>
              <a:rPr sz="1875" b="1">
                <a:solidFill>
                  <a:srgbClr val="131B2A"/>
                </a:solidFill>
              </a:rPr>
              <a:t>calculadora_festa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57CB8-4358-49B0-88F7-2D20DC8A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itens · custos · conversão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95300" y="42386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3C7D0-34F4-4DB6-8082-8C908D0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analises_ia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C383C-3604-465A-9EB6-7235CA7F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Histórico e contexto preservados sem sobrecarregar evento e fornecedor.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D3444-F8A5-4FCA-B389-2657530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829DB-7C00-4EC7-B329-34B0362A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3D91"/>
                </a:solidFill>
              </a:defRPr>
            </a:pPr>
            <a:r>
              <a:rPr sz="1350" b="1">
                <a:solidFill>
                  <a:srgbClr val="E83D91"/>
                </a:solidFill>
              </a:rPr>
              <a:t>INSPIRAÇÃO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4C206-0226-4324-AA00-48D8BD5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B2A"/>
                </a:solidFill>
              </a:defRPr>
            </a:pPr>
            <a:r>
              <a:rPr sz="1875" b="1">
                <a:solidFill>
                  <a:srgbClr val="131B2A"/>
                </a:solidFill>
              </a:rPr>
              <a:t>inspiracao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838D2-0AF5-4193-A778-CAE4A27F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galeria · tags · sugestões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324350" y="42386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27135-A116-4A94-BEDC-1AC7510E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24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evento_referencia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4E8FD-0A23-4FB4-BBC2-F153CB0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482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Histórico e contexto preservados sem sobrecarregar evento e fornecedor.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51132-EEC8-4B53-BC26-7DA77533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84A"/>
          </a:solidFill>
          <a:ln xmlns:a="http://schemas.openxmlformats.org/drawingml/2006/main" w="0">
            <a:solidFill>
              <a:srgbClr val="F8C8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2D281B-6EB7-4620-ABEC-3E55289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C84A"/>
                </a:solidFill>
              </a:defRPr>
            </a:pPr>
            <a:r>
              <a:rPr sz="1350" b="1">
                <a:solidFill>
                  <a:srgbClr val="F8C84A"/>
                </a:solidFill>
              </a:rPr>
              <a:t>INTELIGÊNCIA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DCB22-13A7-40FE-9D72-E591866F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B2A"/>
                </a:solidFill>
              </a:defRPr>
            </a:pPr>
            <a:r>
              <a:rPr sz="1875" b="1">
                <a:solidFill>
                  <a:srgbClr val="131B2A"/>
                </a:solidFill>
              </a:rPr>
              <a:t>fornecedor_recomendacao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8C1B2-94BC-4BD5-B519-98D35AF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score · motivos · compatibilidade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8153400" y="42386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9E0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9EBCD-6EEC-47F0-B708-8252F9A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243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B2A"/>
                </a:solidFill>
              </a:defRPr>
            </a:pPr>
            <a:r>
              <a:rPr sz="1500" b="1">
                <a:solidFill>
                  <a:srgbClr val="131B2A"/>
                </a:solidFill>
              </a:rPr>
              <a:t>fornecedor_interacao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F4640-BE38-462C-ABA8-3E04A0D5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Histórico e contexto preservados sem sobrecarregar evento e fornecedor.</a:t>
            </a:r>
          </a:p>
        </p:txBody>
      </p:sp>
    </p:spTree>
    <p:extLst>
      <p:ext uri="{BB962C8B-B14F-4D97-AF65-F5344CB8AC3E}">
        <p14:creationId xmlns:p14="http://schemas.microsoft.com/office/powerpoint/2010/main" val="427931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f5e4eb1c5439c"/>
          <a:srcRect xmlns:a="http://schemas.openxmlformats.org/drawingml/2006/main" l="22384" t="0" r="22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3C77B-03D6-45FE-8C13-C38FF2D2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D91"/>
          </a:solidFill>
          <a:ln xmlns:a="http://schemas.openxmlformats.org/drawingml/2006/main" w="0">
            <a:solidFill>
              <a:srgbClr val="E83D9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14C90-47AF-4A29-A80D-EB1087E8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 modelo inicial evoluiu para um contrato relacional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96778-31A5-405D-BB3D-A6F7201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84A"/>
                </a:solidFill>
              </a:defRPr>
            </a:pPr>
            <a:r>
              <a:rPr sz="1200" b="1">
                <a:solidFill>
                  <a:srgbClr val="F8C84A"/>
                </a:solidFill>
              </a:rPr>
              <a:t>MODELO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B8AFC-37DB-4F62-B2B0-5DD4CF33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E83D91"/>
                </a:solidFill>
              </a:defRPr>
            </a:pPr>
            <a:r>
              <a:rPr sz="5250" b="1">
                <a:solidFill>
                  <a:srgbClr val="E83D91"/>
                </a:solidFill>
              </a:rPr>
              <a:t>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C5E7-5D57-4EB2-AE23-A964B9E7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tabelas 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09C8C-03EC-46F7-AC0D-C15E4849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PKs e FKs explícitas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6123D-E9E4-40CC-A048-D47C258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Subcoleções normalizadas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DBD6D-B484-4B8E-80F4-CE9969D6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DDL validado sem FKs inválidas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E0057-DED8-4232-A608-0CA40FE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435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84A"/>
          </a:solidFill>
          <a:ln xmlns:a="http://schemas.openxmlformats.org/drawingml/2006/main" w="0">
            <a:solidFill>
              <a:srgbClr val="F8C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82B35-09B9-41A4-8C20-85C1C97F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435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0E1"/>
                </a:solidFill>
              </a:defRPr>
            </a:pPr>
            <a:r>
              <a:rPr sz="1350" b="0">
                <a:solidFill>
                  <a:srgbClr val="C7D0E1"/>
                </a:solidFill>
              </a:rPr>
              <a:t>Pronto para Engenharia Reversa no Vycanis</a:t>
            </a:r>
          </a:p>
        </p:txBody>
      </p:sp>
    </p:spTree>
    <p:extLst>
      <p:ext uri="{BB962C8B-B14F-4D97-AF65-F5344CB8AC3E}">
        <p14:creationId xmlns:p14="http://schemas.microsoft.com/office/powerpoint/2010/main" val="196135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5a091c53c447f"/>
          <a:stretch xmlns:a="http://schemas.openxmlformats.org/drawingml/2006/main"/>
        </p:blipFill>
        <p:spPr>
          <a:xfrm xmlns:a="http://schemas.openxmlformats.org/drawingml/2006/main">
            <a:off x="495300" y="438150"/>
            <a:ext cx="990600" cy="990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ECEF4-95F0-422E-B6E9-F5AFBD8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 banco deixa de ser apenas implementação e passa a ser um ativo do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27830-29BE-465F-B381-D9D207E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3D91"/>
                </a:solidFill>
              </a:defRPr>
            </a:pPr>
            <a:r>
              <a:rPr sz="1200" b="1">
                <a:solidFill>
                  <a:srgbClr val="E83D9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541AB-B715-421C-878F-3A08F271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Contrato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01C50-897A-42AE-B1D1-83B8F48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4D8"/>
                </a:solidFill>
              </a:defRPr>
            </a:pPr>
            <a:r>
              <a:rPr sz="1125" b="0">
                <a:solidFill>
                  <a:srgbClr val="B9C4D8"/>
                </a:solidFill>
              </a:rPr>
              <a:t>campos, chaves e domínios documentados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76EBC-1DA2-4703-BAEB-AB96079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84A"/>
                </a:solidFill>
              </a:defRPr>
            </a:pPr>
            <a:r>
              <a:rPr sz="1200" b="1">
                <a:solidFill>
                  <a:srgbClr val="F8C84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6FF87-AF1D-4A8B-A4DF-8DF6E105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Governança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9B842-182C-4158-BAA6-CD96CAF8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4D8"/>
                </a:solidFill>
              </a:defRPr>
            </a:pPr>
            <a:r>
              <a:rPr sz="1125" b="0">
                <a:solidFill>
                  <a:srgbClr val="B9C4D8"/>
                </a:solidFill>
              </a:rPr>
              <a:t>uma fonte oficial para cada conceito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1ABE-8DB8-486C-9C30-3749B2F6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3D91"/>
                </a:solidFill>
              </a:defRPr>
            </a:pPr>
            <a:r>
              <a:rPr sz="1200" b="1">
                <a:solidFill>
                  <a:srgbClr val="E83D91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227BC-BB55-4C2A-97B8-C0EFA835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Escalabilidade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4AE39-4293-4076-80BF-2A665A1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4D8"/>
                </a:solidFill>
              </a:defRPr>
            </a:pPr>
            <a:r>
              <a:rPr sz="1125" b="0">
                <a:solidFill>
                  <a:srgbClr val="B9C4D8"/>
                </a:solidFill>
              </a:rPr>
              <a:t>módulos evoluem sem romper o núcleo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1567-E1C1-447F-BFF3-B01041CD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05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C84A"/>
                </a:solidFill>
              </a:defRPr>
            </a:pPr>
            <a:r>
              <a:rPr sz="1200" b="1">
                <a:solidFill>
                  <a:srgbClr val="F8C84A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61B80-EF88-4C8C-BB33-97DA575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Prontidão de mercado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5842E-3EB4-403C-9BBD-EED3998B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4D8"/>
                </a:solidFill>
              </a:defRPr>
            </a:pPr>
            <a:r>
              <a:rPr sz="1125" b="0">
                <a:solidFill>
                  <a:srgbClr val="B9C4D8"/>
                </a:solidFill>
              </a:rPr>
              <a:t>modelo revisável por equipe e investidores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D0404-A638-4297-AA76-16E27FA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C2"/>
          </a:solidFill>
          <a:ln xmlns:a="http://schemas.openxmlformats.org/drawingml/2006/main" w="0">
            <a:solidFill>
              <a:srgbClr val="1769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23471-CC30-4FE9-AE86-7B3E110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Próximo passo: manter o SQL e o dicionário atualizados junto de cada evolução do aplicativo.</a:t>
            </a:r>
          </a:p>
        </p:txBody>
      </p:sp>
    </p:spTree>
    <p:extLst>
      <p:ext uri="{BB962C8B-B14F-4D97-AF65-F5344CB8AC3E}">
        <p14:creationId xmlns:p14="http://schemas.microsoft.com/office/powerpoint/2010/main" val="481345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2026-08-11T20:38:42.4780000Z</dcterms:created>
  <dcterms:modified xsi:type="dcterms:W3CDTF">2026-08-11T20:38:42.4780000Z</dcterms:modified>
</coreProperties>
</file>