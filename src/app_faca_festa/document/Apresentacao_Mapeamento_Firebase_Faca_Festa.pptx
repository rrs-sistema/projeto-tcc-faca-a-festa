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8660239989430b" /><Relationship Type="http://schemas.openxmlformats.org/officeDocument/2006/relationships/extended-properties" Target="/docProps/app.xml" Id="R64dbaf3741054e48" /><Relationship Type="http://schemas.openxmlformats.org/officeDocument/2006/relationships/officeDocument" Target="/ppt/presentation.xml" Id="Rc25c771d96a74b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7a43aab5cc4517"/>
  </p:sldMasterIdLst>
  <p:notesMasterIdLst>
    <p:notesMasterId xmlns:r="http://schemas.openxmlformats.org/officeDocument/2006/relationships" r:id="R6dc8a4bdda154957"/>
  </p:notesMasterIdLst>
  <p:sldIdLst>
    <p:sldId xmlns:r="http://schemas.openxmlformats.org/officeDocument/2006/relationships" id="256" r:id="R7cc07148459949ed"/>
    <p:sldId xmlns:r="http://schemas.openxmlformats.org/officeDocument/2006/relationships" id="257" r:id="R06bdbc4bb1d44a0b"/>
    <p:sldId xmlns:r="http://schemas.openxmlformats.org/officeDocument/2006/relationships" id="258" r:id="R7795109bfa6644b8"/>
    <p:sldId xmlns:r="http://schemas.openxmlformats.org/officeDocument/2006/relationships" id="259" r:id="R8ac3c0932e124356"/>
    <p:sldId xmlns:r="http://schemas.openxmlformats.org/officeDocument/2006/relationships" id="260" r:id="Rbe03ad559d4f40a2"/>
    <p:sldId xmlns:r="http://schemas.openxmlformats.org/officeDocument/2006/relationships" id="261" r:id="Rddc144be12884cf9"/>
    <p:sldId xmlns:r="http://schemas.openxmlformats.org/officeDocument/2006/relationships" id="262" r:id="Rcc0d4f85e9be4341"/>
    <p:sldId xmlns:r="http://schemas.openxmlformats.org/officeDocument/2006/relationships" id="263" r:id="R4151653c4a5f47aa"/>
    <p:sldId xmlns:r="http://schemas.openxmlformats.org/officeDocument/2006/relationships" id="264" r:id="R179cf48a233641cd"/>
    <p:sldId xmlns:r="http://schemas.openxmlformats.org/officeDocument/2006/relationships" id="265" r:id="Re59d062039a94e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39bd86f5c34f78" /><Relationship Type="http://schemas.openxmlformats.org/officeDocument/2006/relationships/slideMaster" Target="/ppt/slideMasters/slideMaster1.xml" Id="Rfe7a43aab5cc4517" /><Relationship Type="http://schemas.openxmlformats.org/officeDocument/2006/relationships/notesMaster" Target="/ppt/notesMasters/notesMaster1.xml" Id="R6dc8a4bdda154957" /><Relationship Type="http://schemas.openxmlformats.org/officeDocument/2006/relationships/presProps" Target="/ppt/presProps.xml" Id="Rafee256f67d94990" /><Relationship Type="http://schemas.openxmlformats.org/officeDocument/2006/relationships/tableStyles" Target="/ppt/tableStyles.xml" Id="Rb2f0cfd60cf844ee" /><Relationship Type="http://schemas.openxmlformats.org/officeDocument/2006/relationships/slide" Target="/ppt/slides/slide1.xml" Id="R7cc07148459949ed" /><Relationship Type="http://schemas.openxmlformats.org/officeDocument/2006/relationships/slide" Target="/ppt/slides/slide2.xml" Id="R06bdbc4bb1d44a0b" /><Relationship Type="http://schemas.openxmlformats.org/officeDocument/2006/relationships/slide" Target="/ppt/slides/slide3.xml" Id="R7795109bfa6644b8" /><Relationship Type="http://schemas.openxmlformats.org/officeDocument/2006/relationships/slide" Target="/ppt/slides/slide4.xml" Id="R8ac3c0932e124356" /><Relationship Type="http://schemas.openxmlformats.org/officeDocument/2006/relationships/slide" Target="/ppt/slides/slide5.xml" Id="Rbe03ad559d4f40a2" /><Relationship Type="http://schemas.openxmlformats.org/officeDocument/2006/relationships/slide" Target="/ppt/slides/slide6.xml" Id="Rddc144be12884cf9" /><Relationship Type="http://schemas.openxmlformats.org/officeDocument/2006/relationships/slide" Target="/ppt/slides/slide7.xml" Id="Rcc0d4f85e9be4341" /><Relationship Type="http://schemas.openxmlformats.org/officeDocument/2006/relationships/slide" Target="/ppt/slides/slide8.xml" Id="R4151653c4a5f47aa" /><Relationship Type="http://schemas.openxmlformats.org/officeDocument/2006/relationships/slide" Target="/ppt/slides/slide9.xml" Id="R179cf48a233641cd" /><Relationship Type="http://schemas.openxmlformats.org/officeDocument/2006/relationships/slide" Target="/ppt/slides/slide10.xml" Id="Re59d062039a9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6d5e214096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b1d7a1b68e4afe" /><Relationship Type="http://schemas.openxmlformats.org/officeDocument/2006/relationships/notesMaster" Target="/ppt/notesMasters/notesMaster1.xml" Id="R9912d862907f40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6f208ad6541a6" /><Relationship Type="http://schemas.openxmlformats.org/officeDocument/2006/relationships/notesMaster" Target="/ppt/notesMasters/notesMaster1.xml" Id="Rbd2adaf32f5548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2e5dc984e43a9" /><Relationship Type="http://schemas.openxmlformats.org/officeDocument/2006/relationships/notesMaster" Target="/ppt/notesMasters/notesMaster1.xml" Id="R5b364441ed834e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e3cfe6c18c4a61" /><Relationship Type="http://schemas.openxmlformats.org/officeDocument/2006/relationships/notesMaster" Target="/ppt/notesMasters/notesMaster1.xml" Id="R6edd328729d2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9425e9b278420a" /><Relationship Type="http://schemas.openxmlformats.org/officeDocument/2006/relationships/notesMaster" Target="/ppt/notesMasters/notesMaster1.xml" Id="R7c9ef9cc93dd48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761cd44a54ab2" /><Relationship Type="http://schemas.openxmlformats.org/officeDocument/2006/relationships/notesMaster" Target="/ppt/notesMasters/notesMaster1.xml" Id="R351d62d9327942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bab01e0d74405" /><Relationship Type="http://schemas.openxmlformats.org/officeDocument/2006/relationships/notesMaster" Target="/ppt/notesMasters/notesMaster1.xml" Id="Rcf360db8d99049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eab89632484228" /><Relationship Type="http://schemas.openxmlformats.org/officeDocument/2006/relationships/notesMaster" Target="/ppt/notesMasters/notesMaster1.xml" Id="R3a9656c0bbf94c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933f2d2d874ab2" /><Relationship Type="http://schemas.openxmlformats.org/officeDocument/2006/relationships/notesMaster" Target="/ppt/notesMasters/notesMaster1.xml" Id="R4ecc9900f71b42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339a946e1b45f4" /><Relationship Type="http://schemas.openxmlformats.org/officeDocument/2006/relationships/notesMaster" Target="/ppt/notesMasters/notesMaster1.xml" Id="Rfd9398d7a81c49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dizendo que o objetivo não foi desenhar um banco ideal, mas comprovar o banco que o código usa hoje. Explique que o levantamento cruzou modelos, acessos do app e Cloud Functions.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lib/data/models/**</a:t>
            </a:r>
          </a:p>
          <a:p xmlns:a="http://schemas.openxmlformats.org/drawingml/2006/main">
            <a:r>
              <a:t>- lib/controllers/**</a:t>
            </a:r>
          </a:p>
          <a:p xmlns:a="http://schemas.openxmlformats.org/drawingml/2006/main">
            <a:r>
              <a:t>- lib/data/repositories/**</a:t>
            </a:r>
          </a:p>
          <a:p xmlns:a="http://schemas.openxmlformats.org/drawingml/2006/main">
            <a:r>
              <a:t>- functions/src/**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é a principal correção do mapeamento antigo: classe não significa coleção. Há modelos para telas administrativas, respostas de IA, DTOs e banco local. A apresentação passa a focar somente nos caminhos comprovados.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lib/data/models/** (74 arquivos .dart)</a:t>
            </a:r>
          </a:p>
          <a:p xmlns:a="http://schemas.openxmlformats.org/drawingml/2006/main">
            <a:r>
              <a:t>- Ocorrências de collection(...) em lib/**</a:t>
            </a:r>
          </a:p>
          <a:p xmlns:a="http://schemas.openxmlformats.org/drawingml/2006/main">
            <a:r>
              <a:t>- Constantes de coleção em functions/src/**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um exemplo concreto. O documento do evento pode ter presentes; cada presente pode ter contribuições. Campos como id_evento funcionam como FK lógica, mas o Firestore não impede que apontem para um documento inexistente.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lib/data/datasources/remote/gift_remote_datasource.dart:12-151</a:t>
            </a:r>
          </a:p>
          <a:p xmlns:a="http://schemas.openxmlformats.org/drawingml/2006/main">
            <a:r>
              <a:t>- lib/data/models/gift/gift_model.dart</a:t>
            </a:r>
          </a:p>
          <a:p xmlns:a="http://schemas.openxmlformats.org/drawingml/2006/main">
            <a:r>
              <a:t>- lib/data/models/gift/gift_contribution_model.dart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primeiro o caminho principal: o usuário cria um evento; convidados e tarefas referenciam o evento; cardápios possuem itens aninhados. Ressalte que o ID costuma ser repetido no corpo do documento.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lib/data/models/usuario/usuario_model.dart</a:t>
            </a:r>
          </a:p>
          <a:p xmlns:a="http://schemas.openxmlformats.org/drawingml/2006/main">
            <a:r>
              <a:t>- lib/data/models/evento/evento_model.dart</a:t>
            </a:r>
          </a:p>
          <a:p xmlns:a="http://schemas.openxmlformats.org/drawingml/2006/main">
            <a:r>
              <a:t>- lib/data/models/convidado/convidado_model.dart</a:t>
            </a:r>
          </a:p>
          <a:p xmlns:a="http://schemas.openxmlformats.org/drawingml/2006/main">
            <a:r>
              <a:t>- lib/data/models/tarefa/tarefa_model.dart</a:t>
            </a:r>
          </a:p>
          <a:p xmlns:a="http://schemas.openxmlformats.org/drawingml/2006/main">
            <a:r>
              <a:t>- lib/controllers/convidado/cardapio_controller.dart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função das coleções de ligação. fornecedor_categoria e fornecedor_servico evitam colocar todo o catálogo em um único documento e permitem consultas por fornecedor, categoria e serviço.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lib/data/models/fornecedor/fornecedor_model.dart</a:t>
            </a:r>
          </a:p>
          <a:p xmlns:a="http://schemas.openxmlformats.org/drawingml/2006/main">
            <a:r>
              <a:t>- lib/data/models/servico_produto/**</a:t>
            </a:r>
          </a:p>
          <a:p xmlns:a="http://schemas.openxmlformats.org/drawingml/2006/main">
            <a:r>
              <a:t>- lib/controllers/servico/servico_produto_controller.dart</a:t>
            </a:r>
          </a:p>
          <a:p xmlns:a="http://schemas.openxmlformats.org/drawingml/2006/main">
            <a:r>
              <a:t>- lib/controllers/fornecedor/fornecedor_controller.dart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cotação é um agregado aninhado: fornecedores, serviços e chat ficam abaixo dela. Quando há fechamento, o sistema também cria orçamento, que passa a controlar gastos e pagamento.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lib/controllers/contacao/cotacao_controller.dart</a:t>
            </a:r>
          </a:p>
          <a:p xmlns:a="http://schemas.openxmlformats.org/drawingml/2006/main">
            <a:r>
              <a:t>- lib/controllers/contacao/solicitacoes_controller.dart</a:t>
            </a:r>
          </a:p>
          <a:p xmlns:a="http://schemas.openxmlformats.org/drawingml/2006/main">
            <a:r>
              <a:t>- lib/controllers/orcamento_controller.dart</a:t>
            </a:r>
          </a:p>
          <a:p xmlns:a="http://schemas.openxmlformats.org/drawingml/2006/main">
            <a:r>
              <a:t>- lib/controllers/orcamento_gasto_controller.dart</a:t>
            </a:r>
          </a:p>
          <a:p xmlns:a="http://schemas.openxmlformats.org/drawingml/2006/main">
            <a:r>
              <a:t>- lib/presentation/pages/fornecedor/chat/chat_mensagens_page.dart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parte demonstra por que modelos de resposta de IA não devem ser contados automaticamente como tabelas. Só entram no mapa quando existe um caminho persistido, como calculadora_festa/analises_ia.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lib/data/repositories/calculadora_festa_repository.dart</a:t>
            </a:r>
          </a:p>
          <a:p xmlns:a="http://schemas.openxmlformats.org/drawingml/2006/main">
            <a:r>
              <a:t>- functions/src/services/calculadora/calculadoraFirestoreService.ts</a:t>
            </a:r>
          </a:p>
          <a:p xmlns:a="http://schemas.openxmlformats.org/drawingml/2006/main">
            <a:r>
              <a:t>- lib/controllers/inspiracao/inspiracao_controller.dart</a:t>
            </a:r>
          </a:p>
          <a:p xmlns:a="http://schemas.openxmlformats.org/drawingml/2006/main">
            <a:r>
              <a:t>- lib/data/datasources/remote/gift_remote_datasource.dart</a:t>
            </a:r>
          </a:p>
          <a:p xmlns:a="http://schemas.openxmlformats.org/drawingml/2006/main">
            <a:r>
              <a:t>- functions/src/services/fornecedores/**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Diferencie PK real, FK lógica e ID composto. O ganho de flexibilidade do NoSQL exige disciplina: as relações não são validadas pelo banco como em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lib/controllers/evento_controller.dart</a:t>
            </a:r>
          </a:p>
          <a:p xmlns:a="http://schemas.openxmlformats.org/drawingml/2006/main">
            <a:r>
              <a:t>- lib/controllers/tarefa_controller.dart</a:t>
            </a:r>
          </a:p>
          <a:p xmlns:a="http://schemas.openxmlformats.org/drawingml/2006/main">
            <a:r>
              <a:t>- lib/controllers/avaliacao/avaliacao_servico_controller.dart</a:t>
            </a:r>
          </a:p>
          <a:p xmlns:a="http://schemas.openxmlformats.org/drawingml/2006/main">
            <a:r>
              <a:t>- lib/controllers/servico/servico_produto_controller.dart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estes pontos como achados do código, não como falhas do banco. Eles explicam por que o novo mapeamento deve ser mantido como contrato de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lib/controllers/avaliacao/avaliacao_servico_controller.dart</a:t>
            </a:r>
          </a:p>
          <a:p xmlns:a="http://schemas.openxmlformats.org/drawingml/2006/main">
            <a:r>
              <a:t>- lib/controllers/inspiracao/inspiracao_controller.dart</a:t>
            </a:r>
          </a:p>
          <a:p xmlns:a="http://schemas.openxmlformats.org/drawingml/2006/main">
            <a:r>
              <a:t>- lib/controllers/fornecedor/fornecedor_recomendacao_controller.dart</a:t>
            </a:r>
          </a:p>
          <a:p xmlns:a="http://schemas.openxmlformats.org/drawingml/2006/main">
            <a:r>
              <a:t>- firebase.json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retomando a pergunta inicial: agora sabemos o que é realmente persistido. A recomendação é manter este dicionário junto do código e usar uma única convenção por domínio.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document/MAPEAMENTO_FIREBASE_APRESENTACAO.md</a:t>
            </a:r>
          </a:p>
          <a:p xmlns:a="http://schemas.openxmlformats.org/drawingml/2006/main">
            <a:r>
              <a:t>- Levantamento consolidado em 11/08/2026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fc1a424c9249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63e0a080ea4f20" /><Relationship Type="http://schemas.openxmlformats.org/officeDocument/2006/relationships/slideLayout" Target="/ppt/slideLayouts/slideLayout1.xml" Id="R0c528ba9d5d6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528ba9d5d6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e9ddc16fc49ff" /><Relationship Type="http://schemas.openxmlformats.org/officeDocument/2006/relationships/notesSlide" Target="/ppt/notesSlides/notesSlide1.xml" Id="R4ba6dba1977b41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32f3b556b4ab7" /><Relationship Type="http://schemas.openxmlformats.org/officeDocument/2006/relationships/notesSlide" Target="/ppt/notesSlides/notesSlide2.xml" Id="Rd349d63b89a242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5d4223e4745db" /><Relationship Type="http://schemas.openxmlformats.org/officeDocument/2006/relationships/notesSlide" Target="/ppt/notesSlides/notesSlide3.xml" Id="Ra468d9c37a4a4a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7accae25b413f" /><Relationship Type="http://schemas.openxmlformats.org/officeDocument/2006/relationships/notesSlide" Target="/ppt/notesSlides/notesSlide4.xml" Id="R9df7f4c5d2b14a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7336084154bd9" /><Relationship Type="http://schemas.openxmlformats.org/officeDocument/2006/relationships/notesSlide" Target="/ppt/notesSlides/notesSlide5.xml" Id="R8e08d41b14074a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1a520925c47e7" /><Relationship Type="http://schemas.openxmlformats.org/officeDocument/2006/relationships/notesSlide" Target="/ppt/notesSlides/notesSlide6.xml" Id="R89a31cd26c2f42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704d3b9464b1c" /><Relationship Type="http://schemas.openxmlformats.org/officeDocument/2006/relationships/notesSlide" Target="/ppt/notesSlides/notesSlide7.xml" Id="Rf0c2d1cdfdd84e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7f777c4b846fe" /><Relationship Type="http://schemas.openxmlformats.org/officeDocument/2006/relationships/notesSlide" Target="/ppt/notesSlides/notesSlide8.xml" Id="R4e42486ef7b846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6bd78ad3c4946" /><Relationship Type="http://schemas.openxmlformats.org/officeDocument/2006/relationships/notesSlide" Target="/ppt/notesSlides/notesSlide9.xml" Id="R96ea9b4e5c0c4a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06a6d3dc54f90" /><Relationship Type="http://schemas.openxmlformats.org/officeDocument/2006/relationships/notesSlide" Target="/ppt/notesSlides/notesSlide10.xml" Id="R21aac8a740964f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1098B-191D-4E1E-856A-A173FA20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FAÇA A FESTA · BANCO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828BD-CD96-45F8-BD68-EF55F374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O que o aplicativo realmente usa no Firebase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2EE07-9220-4484-9CF0-9F14D54D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16C"/>
                </a:solidFill>
              </a:defRPr>
            </a:pPr>
            <a:r>
              <a:rPr sz="1875" b="0">
                <a:solidFill>
                  <a:srgbClr val="59616C"/>
                </a:solidFill>
              </a:rPr>
              <a:t>Coleções, documentos, campos e chaves lógicas mapeados a partir do código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29170-7420-4049-842C-360F520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Apresentação técnica · 10 minutos</a:t>
            </a:r>
          </a:p>
        </p:txBody>
      </p:sp>
    </p:spTree>
    <p:extLst>
      <p:ext uri="{BB962C8B-B14F-4D97-AF65-F5344CB8AC3E}">
        <p14:creationId xmlns:p14="http://schemas.microsoft.com/office/powerpoint/2010/main" val="15767342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A56853-90D3-46A8-9BEE-6116E7C0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Os 74 modelos não equivalem a 74 tabelas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7146D-AB22-45A8-A66D-18F91ED8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Só foram contabilizados caminhos com evidência de leitura ou gravação no Firestore.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228DAB-1046-4A6A-AA9A-614BA46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A552A-EDCF-4428-BEB3-7183E8F1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562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0A6D8-7199-45C7-8010-08C14323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1534C-940D-4F6C-8244-E0ED30BF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coleções raiz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81E03-DFD2-45DE-92EB-3CF4BD6B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Usadas pelo app ou pelas Cloud Functions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CE6AF-6A20-4503-8A9E-78D460E1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62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65ADC-6EDC-4AD2-AE37-8F2A5D8A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8135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3D8DFF"/>
                </a:solidFill>
              </a:defRPr>
            </a:pPr>
            <a:r>
              <a:rPr sz="4950" b="1">
                <a:solidFill>
                  <a:srgbClr val="3D8DFF"/>
                </a:solidFill>
              </a:rPr>
              <a:t>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0EEDD-ED04-4B39-9066-A3F4472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33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caminhos de subcoleção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770D3-9DD1-47C7-9D42-C5979C1E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90537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Dados aninhados sob usuário, evento, cotação e outros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001A2-9F7D-40CC-9909-D59E55F2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35623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67698-F333-419D-9CB2-BF1F70BF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295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</a:defRPr>
            </a:pPr>
            <a:r>
              <a:rPr sz="4950" b="1">
                <a:solidFill>
                  <a:srgbClr val="111111"/>
                </a:solidFill>
              </a:rPr>
              <a:t>74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A3EC7C-3547-4DE7-8FE7-5E766EA3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338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arquivos de modelo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EFAAE-0A24-4D8A-BEA9-0EDE4987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05375"/>
            <a:ext cx="295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C"/>
                </a:solidFill>
              </a:defRPr>
            </a:pPr>
            <a:r>
              <a:rPr sz="1275" b="0">
                <a:solidFill>
                  <a:srgbClr val="59616C"/>
                </a:solidFill>
              </a:rPr>
              <a:t>Incluem DTOs, projeções, cálculos e armazenamento local</a:t>
            </a:r>
          </a:p>
        </p:txBody>
      </p:sp>
    </p:spTree>
    <p:extLst>
      <p:ext uri="{BB962C8B-B14F-4D97-AF65-F5344CB8AC3E}">
        <p14:creationId xmlns:p14="http://schemas.microsoft.com/office/powerpoint/2010/main" val="19427127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17CC5-C223-4983-9257-E6E96C69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No Firestore, a estrutura é coleção → documento → subcoleção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30C6F-F12F-473D-97B3-D35120D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As relações existem por convenção do código; não há chave estrangeira automática.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9540D-0E35-411C-811D-1FB2F768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03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323850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E11AC-7F0F-4E7C-BB88-4294D7B5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3E640-27D4-4905-A9FB-FA53FBE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C"/>
                </a:solidFill>
              </a:defRPr>
            </a:pPr>
            <a:r>
              <a:rPr sz="1200" b="1">
                <a:solidFill>
                  <a:srgbClr val="59616C"/>
                </a:solidFill>
              </a:rPr>
              <a:t>COLEÇÃO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BDA2AD-B527-45EB-B97A-CA5A566B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evento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C499B6-E74B-479C-8379-4162611F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576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Agrupa documentos do mesmo domínio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4256E-2E9A-4F8B-834A-C86BF00C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71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AF1E7-D24A-4DF3-8A3F-C2810584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C"/>
                </a:solidFill>
              </a:defRPr>
            </a:pPr>
            <a:r>
              <a:rPr sz="1200" b="1">
                <a:solidFill>
                  <a:srgbClr val="59616C"/>
                </a:solidFill>
              </a:rPr>
              <a:t>DOCUMENTO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FBF3B-073D-431E-9A66-DBEBE05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{idEvento}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8CAFF7-9EA6-4071-9994-CC9EBC87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576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A PK real é o ID do caminho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01A86-F5FB-46D6-938D-132CCBCD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718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84C78-2DEA-48E0-8F79-62173E33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16C"/>
                </a:solidFill>
              </a:defRPr>
            </a:pPr>
            <a:r>
              <a:rPr sz="1200" b="1">
                <a:solidFill>
                  <a:srgbClr val="59616C"/>
                </a:solidFill>
              </a:rPr>
              <a:t>SUBCOLEÇÃO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CA9F2-DC8F-4979-98EB-50659313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presentes/{id}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BCF06-28EB-4995-96F7-6572542D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57675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Dados filhos ficam aninhados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AE2CFD-F4E0-4E5A-91AA-9CEFD646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Exemplo completo: evento/{idEvento}/presentes/{idPresente}/contributions/{id}</a:t>
            </a:r>
          </a:p>
        </p:txBody>
      </p:sp>
    </p:spTree>
    <p:extLst>
      <p:ext uri="{BB962C8B-B14F-4D97-AF65-F5344CB8AC3E}">
        <p14:creationId xmlns:p14="http://schemas.microsoft.com/office/powerpoint/2010/main" val="21074228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4FB7A-D829-470B-9411-4B7A964A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O núcleo liga usuário, evento e operação da festa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7BB0F4-2FCD-4EF8-8991-3A16DCC6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A maior parte das consultas filtra os documentos filhos por id_evento.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4DECF-428A-4A1E-8FC5-57E08646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85737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190750"/>
                <a:gridCol w="2857500"/>
                <a:gridCol w="4248150"/>
              </a:tblGrid>
              <a:tr h="59871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Coleção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PK do documento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FKs lógicas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Campos mais usados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usuarios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UID / id_usuario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email, tipo, ativo, cidade, uf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id_usuario, id_tipo_evento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nome_evento, data, status, totais, endereço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convidado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id_convidado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id_evento, id_grupo, id_mesa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contato, status, tipo_convidado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grupos_convidado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id_grupo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cor_hex, totais e datas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tarefa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id_tarefa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id_evento, id_responsavel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titulo, data_prevista, status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cardapios/{id}/itens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id_cardapio / id_item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tipo, público, quantidades, confirmado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9926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441A5-266A-4F94-B130-34395E10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O catálogo de fornecedores usa coleções de ligação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6A824-E0EF-4D03-89C8-7FEDEA03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Fornecedor e serviço têm uma relação muitos-para-muitos representada por documentos intermediários.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4ADF4-6680-456A-9CEA-8B4FDA9E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762125"/>
          <a:ext xmlns:a="http://schemas.openxmlformats.org/drawingml/2006/main" cx="11391900" cy="43338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2095500"/>
                <a:gridCol w="2714625"/>
                <a:gridCol w="4295775"/>
              </a:tblGrid>
              <a:tr h="54173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Coleção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Vínculo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Campos principais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fornecedor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UID / id_fornecedor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razão social, CNPJ, ativo, preços, métricas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categoria_servico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descrição, ativo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subcategoria_servico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id_categoria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descrição, ativo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servico_produto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id_subcategoria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tipo_medida, descrição, ativo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fornecedor_categoria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auto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fornecedor + categoria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nome_categoria, subcategorias, cadastro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fornecedor_servico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geralmente composto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fornecedor + serviço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preço, promoção, ativo, avaliações</a:t>
                      </a:r>
                    </a:p>
                  </a:txBody>
                  <a:tcPr marL="91440" marR="91440" marT="45720" marB="45720"/>
                </a:tc>
              </a:tr>
              <a:tr h="5417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territorio / servico_foto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 próprio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id_fornecedor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cobertura geográfica / URLs do catálogo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546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B4FAF-81CD-4623-8935-05BEAD4C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 cotação concentra propostas, serviços e mensagens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72605-DB8A-4E63-928D-FDB24E80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O orçamento fechado é gravado em outra coleção e detalhado por uma subcoleção de gastos.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58096-D137-44EC-88FB-F00EEDE2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85737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09875"/>
                <a:gridCol w="1952625"/>
                <a:gridCol w="2619375"/>
                <a:gridCol w="4010025"/>
              </a:tblGrid>
              <a:tr h="598714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Chave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Referências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Campos centrais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cotacao/{id}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idCotacao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evento + solicitante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descrição, categoria, datas, status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.../fornecedores/{id}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idFornecedor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cotação + fornecedor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prazo, pagamento, status, resposta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.../servicos/{id}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idServico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produto/serviço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quantidade, valor unitário e total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.../mensagens/{id}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automática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id_usuario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mensagem, data, lido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orcamento/{id}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id_orcamento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evento + fornecedor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custo, status, datas, anotações</a:t>
                      </a:r>
                    </a:p>
                  </a:txBody>
                  <a:tcPr marL="91440" marR="91440" marT="45720" marB="45720"/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.../orcamento_gasto/{id}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id_gasto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orçamento + serviço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nome, custo, pago, cadastro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1579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C24FD-E9D3-4946-A383-C22DCF4D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Módulos avançados ampliam o banco sem criar tabelas para cada modelo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8BE58-189F-43C6-99EA-BEED61CF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Calculadora, inspiração, presentes e recomendação usam documentos compostos e histórico aninhado.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5DFAC-8033-4EB0-BE04-C671575E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4238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95500"/>
                <a:gridCol w="2619375"/>
                <a:gridCol w="2714625"/>
                <a:gridCol w="3962400"/>
              </a:tblGrid>
              <a:tr h="60551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Domínio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Coleções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Chaves / estrutura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Dados relevantes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Calculadora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calculadora_festa + itens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id_calculo; itens filhos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perfil, convidados, custos, status</a:t>
                      </a:r>
                    </a:p>
                  </a:txBody>
                  <a:tcPr marL="91440" marR="91440" marT="45720" marB="45720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IA da calculadora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analises_ia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filha do cálculo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índices, diagnóstico, versões de prompt/schema</a:t>
                      </a:r>
                    </a:p>
                  </a:txBody>
                  <a:tcPr marL="91440" marR="91440" marT="45720" marB="45720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Base de cálculo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calculadora_*_itens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IDs semânticos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regras, unidade, público, ordem, ativo</a:t>
                      </a:r>
                    </a:p>
                  </a:txBody>
                  <a:tcPr marL="91440" marR="91440" marT="45720" marB="45720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Inspiração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inspiracoes + referencias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referência filha do evento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imagens, tags, favoritos, sugestões</a:t>
                      </a:r>
                    </a:p>
                  </a:txBody>
                  <a:tcPr marL="91440" marR="91440" marT="45720" marB="45720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Presentes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presentes + contributions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filhas do evento/presente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reserva, meta, arrecadação, contribuições</a:t>
                      </a:r>
                    </a:p>
                  </a:txBody>
                  <a:tcPr marL="91440" marR="91440" marT="45720" marB="45720"/>
                </a:tc>
              </a:tr>
              <a:tr h="60551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Recomendação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fornecedor_*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evento + fornecedor + usuário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interações, score, motivos e compatibilidade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7869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266A1-C0DA-4B7C-9184-21C93DC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As chaves são lógicas — o código precisa manter a consistência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610F0-3DFD-4C2A-9271-4A626D0C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Três estratégias aparecem repetidamente na implementação.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67669-E6EA-4426-A903-CC3BCFB0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5C350D-C2A6-40FA-8FD5-B66E8D3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solidFill>
              <a:srgbClr val="DCEB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C408F-9A24-4EBE-AE52-C18D7FA9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PK do documento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49989-64EF-4934-BFDD-EF9B1E0E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evento/{idEvento}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D44C0-7336-4D11-A1AC-7F3BA961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0289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É a identidade real no Firestore. Em vários casos ela também é repetida como id_evento.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F2451-3D1E-4628-8131-82A260C9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81250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82104-512F-450E-A190-CD18E52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146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FK textual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F1B37-9A12-4A86-8968-160FBD87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38137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tarefa.id_evento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BDB70-0AC5-4EA3-B6B1-BE4466C8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191000"/>
            <a:ext cx="30289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Permite consultas com where(), mas não impede referência órfã após uma exclusão.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AEC441-79B9-4858-B8FC-D8E95067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81250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AFA12-75FF-47EB-A78B-B1B41D2F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3028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ID composto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88BA2-13ED-49D6-8282-A84E3CDC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81375"/>
            <a:ext cx="3028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fornecedor_servico/{fornecedor_servico}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3E09DA-2E9D-4358-B87B-B4495FF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30289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Evita duplicidade de vínculo, desde que todos os pontos usem a mesma fórmula.</a:t>
            </a:r>
          </a:p>
        </p:txBody>
      </p:sp>
    </p:spTree>
    <p:extLst>
      <p:ext uri="{BB962C8B-B14F-4D97-AF65-F5344CB8AC3E}">
        <p14:creationId xmlns:p14="http://schemas.microsoft.com/office/powerpoint/2010/main" val="15271240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8CFA5-6D6D-437F-A340-05ABA50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Quatro pontos hoje podem gerar dados divergentes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CEBB1-C9CE-4B7D-A6C5-C21961D9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C"/>
                </a:solidFill>
              </a:defRPr>
            </a:pPr>
            <a:r>
              <a:rPr sz="1425" b="0">
                <a:solidFill>
                  <a:srgbClr val="59616C"/>
                </a:solidFill>
              </a:rPr>
              <a:t>O problema principal não é o Firestore; é a falta de uma convenção única entre os módulos.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C635B-9C0F-4264-9207-E088D3FA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16C"/>
                </a:solidFill>
              </a:defRPr>
            </a:pPr>
            <a:r>
              <a:rPr sz="900" b="0">
                <a:solidFill>
                  <a:srgbClr val="59616C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4EFC22-70E4-42BF-A98F-DA76646D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BF3A70-BBF3-4A64-8DAC-31BE1F95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963DE-AC82-40EE-901C-0B98D5CA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Avaliações em várias origens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FE1CB-3C09-40C4-B049-22B0019D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fornecedor/avaliacoes, fornecedor_servico/avaliacoes, avaliacao_fornecedor, avaliacoes e fornecedor_avaliacoes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2D7D9-29E8-403E-9251-52411C47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952625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79ECB-0F31-4E08-BE17-6A48B581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4F65F-F956-4150-AD0C-28EEBDD4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6217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Dois caminhos para tarefas e orçamento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C36EC-C29F-4260-BF53-339353F5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7652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Coleções raiz coexistem com evento/{id}/tarefas e evento/{id}/orcamento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4CC53C-7BBB-43E5-8D9A-F559C67C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4"/>
          </a:solidFill>
          <a:ln xmlns:a="http://schemas.openxmlformats.org/drawingml/2006/main" w="0">
            <a:solidFill>
              <a:srgbClr val="F0F2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C7021-3E2F-4955-95AB-1905C0E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9AAE-B383-434E-A1E6-E1D6AB65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snake_case + camelCase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70D14-EEA4-428B-AB93-F4F6F62D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Recomendações mantêm consultas de compatibilidade para os dois padrões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972962-A592-4AEF-B4B2-027FEC61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05250"/>
            <a:ext cx="54768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D"/>
          </a:solidFill>
          <a:ln xmlns:a="http://schemas.openxmlformats.org/drawingml/2006/main" w="0">
            <a:solidFill>
              <a:srgbClr val="FFF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16C2A-31BE-49F7-ACEF-1BEC3254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43375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D8DFF"/>
                </a:solidFill>
              </a:defRPr>
            </a:pPr>
            <a:r>
              <a:rPr sz="240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F0758-6B8C-445A-B23B-CE798C86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14800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Regras fora do versionamento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66B9B-98E4-4654-BB9A-DB6946DF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C"/>
                </a:solidFill>
              </a:defRPr>
            </a:pPr>
            <a:r>
              <a:rPr sz="1200" b="0">
                <a:solidFill>
                  <a:srgbClr val="59616C"/>
                </a:solidFill>
              </a:rPr>
              <a:t>firebase.json não referencia firestore.rules nem firestore.indexes.json</a:t>
            </a:r>
          </a:p>
        </p:txBody>
      </p:sp>
    </p:spTree>
    <p:extLst>
      <p:ext uri="{BB962C8B-B14F-4D97-AF65-F5344CB8AC3E}">
        <p14:creationId xmlns:p14="http://schemas.microsoft.com/office/powerpoint/2010/main" val="5834892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FCDAB-C3D8-4A9B-82B9-81D9519C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CONCLUSÃO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D945A-758D-4C5F-8AFF-129E3027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00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O próximo passo é transformar o mapa em contrato de dados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7E4F9-FD1B-4DC3-A329-76991273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1. Padronizar nomes e campos obrigatórios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CD20E-8B79-4B39-8F41-F574CFFE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291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2. Escolher uma fonte por conceito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85499-4070-47D9-BA7D-4B83B82F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2447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3. Versionar regras, índices e exclusões em cascata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0A603-C6D7-4321-BA65-24EDBD3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C"/>
                </a:solidFill>
              </a:defRPr>
            </a:pPr>
            <a:r>
              <a:rPr sz="1350" b="0">
                <a:solidFill>
                  <a:srgbClr val="59616C"/>
                </a:solidFill>
              </a:rPr>
              <a:t>Resultado: banco explicável, consultas previsíveis e menos risco de documentos órfãos.</a:t>
            </a:r>
          </a:p>
        </p:txBody>
      </p:sp>
    </p:spTree>
    <p:extLst>
      <p:ext uri="{BB962C8B-B14F-4D97-AF65-F5344CB8AC3E}">
        <p14:creationId xmlns:p14="http://schemas.microsoft.com/office/powerpoint/2010/main" val="6716258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2026-08-11T18:20:18.1700000Z</dcterms:created>
  <dcterms:modified xsi:type="dcterms:W3CDTF">2026-08-11T18:20:18.1700000Z</dcterms:modified>
</coreProperties>
</file>